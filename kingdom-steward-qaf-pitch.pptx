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strong. Let the tagline land. Pause. This is faith meets fintech — and the judges who attend BLW will feel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person in this room who attends a Loveworld church has felt this gap. Don't rush.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point. From pain to product. The left panel anchors the brand; the rows deliver the quick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cards. Pick one — live demo the dashboard if you can. Let the grid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unique hook. No other tool in the Loveworld ecosystem tracks giving in Espees. This is what makes KS irreplaceable.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prototype. It is live. Point to the URL. Have a phone showing the installed PWA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already warm. They already give — they just need the tool. Community adoption can happen church-by-church.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Free tier. Establishes trust. Then the Premium sell: ₦1,500 is less than a data bundle. Leader tier is a church infrastructure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vision with a plan. You've shipped the hardest thing already — a working product. This is the natural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 here. You built this. You are the builder and the first user. That matters to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silence. Close the deck. Say: 'Kingdom Steward is live. I built it. I'm ready to scale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135">
              <a:alpha val="10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C9A135">
              <a:alpha val="22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C9A135">
              <a:alpha val="10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68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951"/>
                </a:solidFill>
              </a:rPr>
              <a:t>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Kingdom Steward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Giving. Measure Your Faith.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3456432"/>
            <a:ext cx="1280160" cy="36576"/>
          </a:xfrm>
          <a:prstGeom prst="rect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QAF Demo Week  ·  kistew.vercel.app  ·  Built by WrightDevs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Church giving runs on faith.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not on data.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2633472" cy="2450592"/>
          </a:xfrm>
          <a:prstGeom prst="roundRect">
            <a:avLst>
              <a:gd name="adj" fmla="val 5224"/>
            </a:avLst>
          </a:prstGeom>
          <a:solidFill>
            <a:srgbClr val="1E3160"/>
          </a:solidFill>
          <a:ln w="12700">
            <a:solidFill>
              <a:srgbClr val="C9A13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560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999232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give consistently but have zero visibility into their history, totals, or Kingdom investment value.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395728"/>
            <a:ext cx="2633472" cy="2450592"/>
          </a:xfrm>
          <a:prstGeom prst="roundRect">
            <a:avLst>
              <a:gd name="adj" fmla="val 5224"/>
            </a:avLst>
          </a:prstGeom>
          <a:solidFill>
            <a:srgbClr val="1E3160"/>
          </a:solidFill>
          <a:ln w="12700">
            <a:solidFill>
              <a:srgbClr val="C9A13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560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2999232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manage zonal giving via WhatsApp screenshots and manual spreadsheets. No structure, no scale.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395728"/>
            <a:ext cx="2633472" cy="2450592"/>
          </a:xfrm>
          <a:prstGeom prst="roundRect">
            <a:avLst>
              <a:gd name="adj" fmla="val 5224"/>
            </a:avLst>
          </a:prstGeom>
          <a:solidFill>
            <a:srgbClr val="1E3160"/>
          </a:solidFill>
          <a:ln w="12700">
            <a:solidFill>
              <a:srgbClr val="C9A13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9632" y="2560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Momentum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9632" y="2999232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streaks, Espees milestones, or feedback loops — giving habits fade quietly.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85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" y="2286000"/>
            <a:ext cx="777240" cy="36576"/>
          </a:xfrm>
          <a:prstGeom prst="rect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468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PWA giving every Kingdom citizen a personal giving dashboard — visible, trackable, and rewarding.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" y="4434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kistew.vercel.app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594360"/>
            <a:ext cx="4800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60520" y="777240"/>
            <a:ext cx="438912" cy="43891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85953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36592" y="74066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giving entry in under 10 seconds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977640" y="1645920"/>
            <a:ext cx="4800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1828800"/>
            <a:ext cx="438912" cy="43891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9110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179222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Espees value grow in real-time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977640" y="2697480"/>
            <a:ext cx="4800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60520" y="2880360"/>
            <a:ext cx="438912" cy="43891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9626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36592" y="284378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long-term Kingdom pledges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3977640" y="3749040"/>
            <a:ext cx="4800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60520" y="3931920"/>
            <a:ext cx="438912" cy="43891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40142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6592" y="389534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— syncs automatically on reconnect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Features — Live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37160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550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Ledger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04825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tithes, offerings, seeds &amp; more. Filter by type, full history, delete erroneous entries.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6976" y="137160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57276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65506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01568" y="204825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totals, total Espees value, giving streak, and 6-month Chart.js bar chart.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37160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57276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550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 Tracker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54496" y="204825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pledges, log installments, glassmorphism progress bars, auto-reminders via cron.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4048" y="306324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26440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34670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373989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Function: SMS via Twilio + Email via SendGrid. 7 days / 1 day / 1 day overdue.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36976" y="306324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01568" y="326440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34670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01568" y="373989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 + IndexedDB queue. Auto-flush on reconnect with push notification confirmation.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9904" y="3063240"/>
            <a:ext cx="2651760" cy="1536192"/>
          </a:xfrm>
          <a:prstGeom prst="roundRect">
            <a:avLst>
              <a:gd name="adj" fmla="val 7738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54496" y="3264408"/>
            <a:ext cx="420624" cy="420624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34670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Dashboard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54496" y="3739896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Pastors see aggregated giving for their zone. Enforced by PostgreSQL Row Level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C9A135">
              <a:alpha val="10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C9A135">
              <a:alpha val="20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ESPEES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giving, in Kingdom currency.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Espees is the Loveworld Kingdom currency standard.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naira logged is instantly converted and tracked.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66160" cy="1417320"/>
          </a:xfrm>
          <a:prstGeom prst="roundRect">
            <a:avLst>
              <a:gd name="adj" fmla="val 10323"/>
            </a:avLst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EXCHANGE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Esp = ₦2,050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315968" y="2514600"/>
            <a:ext cx="4462272" cy="2377440"/>
          </a:xfrm>
          <a:prstGeom prst="roundRect">
            <a:avLst>
              <a:gd name="adj" fmla="val 6154"/>
            </a:avLst>
          </a:prstGeom>
          <a:solidFill>
            <a:srgbClr val="1E3160"/>
          </a:solidFill>
          <a:ln w="12700">
            <a:solidFill>
              <a:srgbClr val="2D45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2651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 — updates as you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₦10,000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127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4.88 Esp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8848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₦50,000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24.39 Esp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8848" y="4224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₦205,000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224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24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Esp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Deployed &amp; Running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" y="2084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389888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084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1389888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36592" y="2084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12864" y="1389888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12864" y="2084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Pledge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3337560"/>
            <a:ext cx="4160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3392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/ CSS / 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6484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tools. Lightweight. Fast.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91456" y="3337560"/>
            <a:ext cx="4160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74336" y="3392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36484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RLS, Edge Functions, pg_cron, IndexedDB 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087368"/>
            <a:ext cx="4160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+ Twilio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398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 pledge reminders via cron job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91456" y="4087368"/>
            <a:ext cx="4160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74336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74336" y="4398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at kistew.vercel.app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Kingdom Steward Serves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7M+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Loveworld / BLW members globally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disciplined, globally-networked giving community</a:t>
            </a: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dedicated digital giving tool.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463040"/>
            <a:ext cx="4160520" cy="768096"/>
          </a:xfrm>
          <a:prstGeom prst="roundRect">
            <a:avLst>
              <a:gd name="adj" fmla="val 11905"/>
            </a:avLst>
          </a:prstGeom>
          <a:solidFill>
            <a:srgbClr val="1E3160"/>
          </a:solidFill>
          <a:ln w="12700">
            <a:solidFill>
              <a:srgbClr val="2D45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517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8105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BLW member who tithes, gives offerings, or makes pledges.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2359152"/>
            <a:ext cx="4160520" cy="768096"/>
          </a:xfrm>
          <a:prstGeom prst="roundRect">
            <a:avLst>
              <a:gd name="adj" fmla="val 11905"/>
            </a:avLst>
          </a:prstGeom>
          <a:solidFill>
            <a:srgbClr val="1E3160"/>
          </a:solidFill>
          <a:ln w="12700">
            <a:solidFill>
              <a:srgbClr val="2D45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Leaders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7066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motivate giving within their cell group.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3255264"/>
            <a:ext cx="4160520" cy="768096"/>
          </a:xfrm>
          <a:prstGeom prst="roundRect">
            <a:avLst>
              <a:gd name="adj" fmla="val 11905"/>
            </a:avLst>
          </a:prstGeom>
          <a:solidFill>
            <a:srgbClr val="1E3160"/>
          </a:solidFill>
          <a:ln w="12700">
            <a:solidFill>
              <a:srgbClr val="2D45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Pastors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6027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giving visibility across their entire zone.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4151376"/>
            <a:ext cx="4160520" cy="768096"/>
          </a:xfrm>
          <a:prstGeom prst="roundRect">
            <a:avLst>
              <a:gd name="adj" fmla="val 11905"/>
            </a:avLst>
          </a:prstGeom>
          <a:solidFill>
            <a:srgbClr val="1E3160"/>
          </a:solidFill>
          <a:ln w="12700">
            <a:solidFill>
              <a:srgbClr val="2D45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(Roadmap)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consolidated dashboard for church leadership.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Faith-Aligned 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F6F5F0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2064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12064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2926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Giving log (basic)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33284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Espees calculator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373075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41330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active pledges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13048" y="12344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951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C2951"/>
          </a:solidFill>
          <a:ln w="25400">
            <a:solidFill>
              <a:srgbClr val="C9A135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₦1,500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8328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Free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3284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pledges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73075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SMS &amp; Email reminders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41330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6-month analytics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45354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receipts (roadmap)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904" y="141732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E3160"/>
          </a:solidFill>
          <a:ln w="12700">
            <a:solidFill>
              <a:srgbClr val="C9A13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54496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₦10,000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54496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2926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Premium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54496" y="33284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Zonal 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373075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Zone-wide analytics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41330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Member management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45354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7406640" cy="45720"/>
          </a:xfrm>
          <a:prstGeom prst="rect">
            <a:avLst/>
          </a:prstGeom>
          <a:solidFill>
            <a:srgbClr val="D4D0C5"/>
          </a:solidFill>
          <a:ln w="12700">
            <a:solidFill>
              <a:srgbClr val="D4D0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011680"/>
            <a:ext cx="274320" cy="274320"/>
          </a:xfrm>
          <a:prstGeom prst="ellipse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084832" cy="2377440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97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Paystack/Flutterwave giving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receipts &amp; giving statements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2011680"/>
            <a:ext cx="274320" cy="274320"/>
          </a:xfrm>
          <a:prstGeom prst="ellipse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44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2514600"/>
            <a:ext cx="2084832" cy="2377440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2697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Leaders provisioning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6576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receipt automation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41848" y="2011680"/>
            <a:ext cx="274320" cy="274320"/>
          </a:xfrm>
          <a:prstGeom prst="ellipse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44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514600"/>
            <a:ext cx="2084832" cy="2377440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2697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(USD, GBP, ZAR)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6576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Apple SSO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54696" y="2011680"/>
            <a:ext cx="274320" cy="274320"/>
          </a:xfrm>
          <a:prstGeom prst="ellipse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444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0608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2026+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0608" y="2514600"/>
            <a:ext cx="2084832" cy="2377440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CEAE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87768" y="2697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87768" y="36576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badges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017520"/>
            <a:ext cx="3474720" cy="3474720"/>
          </a:xfrm>
          <a:prstGeom prst="ellipse">
            <a:avLst/>
          </a:prstGeom>
          <a:solidFill>
            <a:srgbClr val="C9A135">
              <a:alpha val="10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457200"/>
            <a:ext cx="2286000" cy="2286000"/>
          </a:xfrm>
          <a:prstGeom prst="ellipse">
            <a:avLst/>
          </a:prstGeom>
          <a:solidFill>
            <a:srgbClr val="C9A135">
              <a:alpha val="12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Is Right.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Loveworld has a global, disciplined giving community with no dedicated digital giving tool.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24871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live and functional. This isn't a concept deck — it's a deployed product.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328416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has a proven track record shipping production-grade web apps at WrightDevs.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12394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416966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QAF support accelerates the payment integration phase and drives adoption at scale.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457200"/>
            <a:ext cx="5486400" cy="5486400"/>
          </a:xfrm>
          <a:prstGeom prst="ellipse">
            <a:avLst/>
          </a:prstGeom>
          <a:solidFill>
            <a:srgbClr val="C9A135">
              <a:alpha val="7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3200400" cy="3200400"/>
          </a:xfrm>
          <a:prstGeom prst="ellipse">
            <a:avLst/>
          </a:prstGeom>
          <a:solidFill>
            <a:srgbClr val="C9A135">
              <a:alpha val="14000"/>
            </a:srgbClr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85800"/>
            <a:ext cx="960120" cy="960120"/>
          </a:xfrm>
          <a:prstGeom prst="roundRect">
            <a:avLst>
              <a:gd name="adj" fmla="val 14286"/>
            </a:avLst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85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951"/>
                </a:solidFill>
              </a:rPr>
              <a:t>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Kingdom Steward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72491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Giving. Measure Your Faith.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1005840" cy="36576"/>
          </a:xfrm>
          <a:prstGeom prst="rect">
            <a:avLst/>
          </a:prstGeom>
          <a:solidFill>
            <a:srgbClr val="C9A135"/>
          </a:solidFill>
          <a:ln w="12700">
            <a:solidFill>
              <a:srgbClr val="C9A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47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kistew.vercel.app</a:t>
            </a:r>
            <a:pPr algn="l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Built by WrightDevs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Kingdom Steward – QAF Demo Week</dc:title>
  <dc:subject>PptxGenJS Presentation</dc:subject>
  <dc:creator>WrightDevs</dc:creator>
  <cp:lastModifiedBy>WrightDevs</cp:lastModifiedBy>
  <cp:revision>1</cp:revision>
  <dcterms:created xsi:type="dcterms:W3CDTF">2026-06-11T07:36:03Z</dcterms:created>
  <dcterms:modified xsi:type="dcterms:W3CDTF">2026-06-11T07:36:03Z</dcterms:modified>
</cp:coreProperties>
</file>